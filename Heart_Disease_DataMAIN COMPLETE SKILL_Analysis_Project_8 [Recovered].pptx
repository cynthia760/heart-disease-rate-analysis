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ealth%20Data%20(Heart%20Disease)complete%20SKILL.xlsx%20project%208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Data (Heart Disease)complete SKILL.xlsx project 8.xlsx]task 2!PivotTable1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26451F"/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rgbClr val="26451F"/>
                </a:solidFill>
              </a:rPr>
              <a:t>HEART</a:t>
            </a:r>
            <a:r>
              <a:rPr lang="en-US" sz="1600" baseline="0">
                <a:solidFill>
                  <a:srgbClr val="26451F"/>
                </a:solidFill>
              </a:rPr>
              <a:t> DISEASE VS NO HEART DISEASE </a:t>
            </a:r>
            <a:endParaRPr lang="en-US" sz="1600">
              <a:solidFill>
                <a:srgbClr val="26451F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26451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2'!$B$38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rgbClr val="26451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2'!$A$39:$A$41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'task 2'!$B$39:$B$41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E6-4C89-A62F-517E24FD8F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5596191"/>
        <c:axId val="305595775"/>
      </c:barChart>
      <c:catAx>
        <c:axId val="305596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26451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595775"/>
        <c:crosses val="autoZero"/>
        <c:auto val="1"/>
        <c:lblAlgn val="ctr"/>
        <c:lblOffset val="100"/>
        <c:noMultiLvlLbl val="0"/>
      </c:catAx>
      <c:valAx>
        <c:axId val="30559577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05596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[Health Data (Heart Disease)complete SKILL.xlsx project 8.xlsx]TASK 4!PivotTable5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PATIENT</a:t>
            </a:r>
            <a:r>
              <a:rPr lang="en-US" sz="16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DISTRIBUTION BY RISK CATEGORY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4'!$A$4:$A$7</c:f>
              <c:strCache>
                <c:ptCount val="3"/>
                <c:pt idx="0">
                  <c:v>High Risk</c:v>
                </c:pt>
                <c:pt idx="1">
                  <c:v>Low Risk</c:v>
                </c:pt>
                <c:pt idx="2">
                  <c:v>Medium Risk</c:v>
                </c:pt>
              </c:strCache>
            </c:strRef>
          </c:cat>
          <c:val>
            <c:numRef>
              <c:f>'TASK 4'!$B$4:$B$7</c:f>
              <c:numCache>
                <c:formatCode>0.00%</c:formatCode>
                <c:ptCount val="3"/>
                <c:pt idx="0">
                  <c:v>0.22159999999999999</c:v>
                </c:pt>
                <c:pt idx="1">
                  <c:v>0.41420000000000001</c:v>
                </c:pt>
                <c:pt idx="2">
                  <c:v>0.36420000000000002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3A-4082-93DC-C6BDD6EA4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755599"/>
        <c:axId val="212756015"/>
      </c:barChart>
      <c:catAx>
        <c:axId val="21275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56015"/>
        <c:crosses val="autoZero"/>
        <c:auto val="1"/>
        <c:lblAlgn val="ctr"/>
        <c:lblOffset val="100"/>
        <c:noMultiLvlLbl val="0"/>
      </c:catAx>
      <c:valAx>
        <c:axId val="21275601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12755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RATE BY GENDER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'[Health Data (Heart Disease)complete SKILL.xlsx project 8.xlsx]Sheet4'!$E$15:$E$16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'[Health Data (Heart Disease)complete SKILL.xlsx project 8.xlsx]Sheet4'!$F$15:$F$16</c:f>
              <c:numCache>
                <c:formatCode>0.00%</c:formatCode>
                <c:ptCount val="2"/>
                <c:pt idx="0">
                  <c:v>0.206910405785456</c:v>
                </c:pt>
                <c:pt idx="1">
                  <c:v>0.19368378972616429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C7-4DE5-A3C7-74067E2897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060143"/>
        <c:axId val="181057647"/>
      </c:barChart>
      <c:catAx>
        <c:axId val="18106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057647"/>
        <c:crosses val="autoZero"/>
        <c:auto val="1"/>
        <c:lblAlgn val="ctr"/>
        <c:lblOffset val="100"/>
        <c:noMultiLvlLbl val="0"/>
      </c:catAx>
      <c:valAx>
        <c:axId val="18105764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106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AGE GROUP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4'!$E$24:$E$27</c:f>
              <c:strCache>
                <c:ptCount val="4"/>
                <c:pt idx="0">
                  <c:v>18–34</c:v>
                </c:pt>
                <c:pt idx="1">
                  <c:v>35–49</c:v>
                </c:pt>
                <c:pt idx="2">
                  <c:v>50–64</c:v>
                </c:pt>
                <c:pt idx="3">
                  <c:v>65+</c:v>
                </c:pt>
              </c:strCache>
            </c:strRef>
          </c:cat>
          <c:val>
            <c:numRef>
              <c:f>'TASK 4'!$F$24:$F$27</c:f>
              <c:numCache>
                <c:formatCode>0.00%</c:formatCode>
                <c:ptCount val="4"/>
                <c:pt idx="0">
                  <c:v>0.204337899543379</c:v>
                </c:pt>
                <c:pt idx="1">
                  <c:v>0.20425177157148813</c:v>
                </c:pt>
                <c:pt idx="2">
                  <c:v>0.1961783439490446</c:v>
                </c:pt>
                <c:pt idx="3">
                  <c:v>0.19518716577540107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6A-48D8-9D41-E3AC64DF2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685359"/>
        <c:axId val="176687855"/>
      </c:barChart>
      <c:catAx>
        <c:axId val="176685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687855"/>
        <c:crosses val="autoZero"/>
        <c:auto val="1"/>
        <c:lblAlgn val="ctr"/>
        <c:lblOffset val="100"/>
        <c:noMultiLvlLbl val="0"/>
      </c:catAx>
      <c:valAx>
        <c:axId val="17668785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7668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7E7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D626B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7E7E7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1111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BMI CATEGORY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4'!$E$46:$E$49</c:f>
              <c:strCache>
                <c:ptCount val="3"/>
                <c:pt idx="0">
                  <c:v>Healthy</c:v>
                </c:pt>
                <c:pt idx="1">
                  <c:v>Obese</c:v>
                </c:pt>
                <c:pt idx="2">
                  <c:v>Overweight</c:v>
                </c:pt>
              </c:strCache>
            </c:strRef>
          </c:cat>
          <c:val>
            <c:numRef>
              <c:f>'TASK 4'!$F$46:$F$49</c:f>
              <c:numCache>
                <c:formatCode>0.00%</c:formatCode>
                <c:ptCount val="4"/>
                <c:pt idx="0">
                  <c:v>0.18743866535819431</c:v>
                </c:pt>
                <c:pt idx="1">
                  <c:v>0.20799826124755488</c:v>
                </c:pt>
                <c:pt idx="2">
                  <c:v>0.20068317677198974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DF-4229-AFA8-D33CB2D4C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3363007"/>
        <c:axId val="223361343"/>
      </c:barChart>
      <c:catAx>
        <c:axId val="223363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3361343"/>
        <c:crosses val="autoZero"/>
        <c:auto val="1"/>
        <c:lblAlgn val="ctr"/>
        <c:lblOffset val="100"/>
        <c:noMultiLvlLbl val="0"/>
      </c:catAx>
      <c:valAx>
        <c:axId val="22336134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23363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STRESS LEVEL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3'!$E$13:$E$15</c:f>
              <c:strCache>
                <c:ptCount val="3"/>
                <c:pt idx="0">
                  <c:v>Medium</c:v>
                </c:pt>
                <c:pt idx="1">
                  <c:v>High</c:v>
                </c:pt>
                <c:pt idx="2">
                  <c:v>Low</c:v>
                </c:pt>
              </c:strCache>
            </c:strRef>
          </c:cat>
          <c:val>
            <c:numRef>
              <c:f>'task 3'!$F$13:$F$15</c:f>
              <c:numCache>
                <c:formatCode>0.00%</c:formatCode>
                <c:ptCount val="3"/>
                <c:pt idx="0">
                  <c:v>0.21434898139946856</c:v>
                </c:pt>
                <c:pt idx="1">
                  <c:v>0.19841027208804646</c:v>
                </c:pt>
                <c:pt idx="2">
                  <c:v>0.18734939759036146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D-4EDE-9524-D9657F494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5215728"/>
        <c:axId val="2105224048"/>
      </c:barChart>
      <c:catAx>
        <c:axId val="210521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5224048"/>
        <c:crosses val="autoZero"/>
        <c:auto val="1"/>
        <c:lblAlgn val="ctr"/>
        <c:lblOffset val="100"/>
        <c:noMultiLvlLbl val="0"/>
      </c:catAx>
      <c:valAx>
        <c:axId val="210522404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105215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20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ALCHOL COMSUMPTION</a:t>
            </a:r>
            <a:endParaRPr 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2'!$E$4:$E$7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'task 2'!$F$4:$F$7</c:f>
              <c:numCache>
                <c:formatCode>0.00%</c:formatCode>
                <c:ptCount val="4"/>
                <c:pt idx="0">
                  <c:v>0.20981038746908492</c:v>
                </c:pt>
                <c:pt idx="1">
                  <c:v>0.20418006430868169</c:v>
                </c:pt>
                <c:pt idx="2">
                  <c:v>0.19439999999999999</c:v>
                </c:pt>
                <c:pt idx="3">
                  <c:v>0.19146436961628818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8-4EF6-887D-A2CAE8472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5229456"/>
        <c:axId val="2105241936"/>
      </c:barChart>
      <c:catAx>
        <c:axId val="210522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5241936"/>
        <c:crosses val="autoZero"/>
        <c:auto val="1"/>
        <c:lblAlgn val="ctr"/>
        <c:lblOffset val="100"/>
        <c:noMultiLvlLbl val="0"/>
      </c:catAx>
      <c:valAx>
        <c:axId val="2105241936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105229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SUGAR CONSUMPTION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layout>
        <c:manualLayout>
          <c:xMode val="edge"/>
          <c:yMode val="edge"/>
          <c:x val="0.17204155730533682"/>
          <c:y val="3.70370370370370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4'!$E$36:$E$38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'TASK 4'!$F$36:$F$38</c:f>
              <c:numCache>
                <c:formatCode>0.00%</c:formatCode>
                <c:ptCount val="3"/>
                <c:pt idx="0">
                  <c:v>0.20600600600600599</c:v>
                </c:pt>
                <c:pt idx="1">
                  <c:v>0.19793510324483776</c:v>
                </c:pt>
                <c:pt idx="2">
                  <c:v>0.19507692307692306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53-4F1B-8E84-4928D855A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26834431"/>
        <c:axId val="226845247"/>
      </c:barChart>
      <c:catAx>
        <c:axId val="22683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845247"/>
        <c:crosses val="autoZero"/>
        <c:auto val="1"/>
        <c:lblAlgn val="ctr"/>
        <c:lblOffset val="100"/>
        <c:noMultiLvlLbl val="0"/>
      </c:catAx>
      <c:valAx>
        <c:axId val="22684524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26834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6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CHOLESTEROL GROUP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3'!$E$24:$E$26</c:f>
              <c:strCache>
                <c:ptCount val="3"/>
                <c:pt idx="0">
                  <c:v>High</c:v>
                </c:pt>
                <c:pt idx="1">
                  <c:v>Desirable</c:v>
                </c:pt>
                <c:pt idx="2">
                  <c:v>Borderline High</c:v>
                </c:pt>
              </c:strCache>
            </c:strRef>
          </c:cat>
          <c:val>
            <c:numRef>
              <c:f>'task 3'!$F$24:$F$26</c:f>
              <c:numCache>
                <c:formatCode>0.00%</c:formatCode>
                <c:ptCount val="3"/>
                <c:pt idx="0">
                  <c:v>0.20107108081791625</c:v>
                </c:pt>
                <c:pt idx="1">
                  <c:v>0.19726027397260273</c:v>
                </c:pt>
                <c:pt idx="2">
                  <c:v>0.2017644802454929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9E-473D-BE74-6A0C6CAF4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5244016"/>
        <c:axId val="2105249840"/>
      </c:barChart>
      <c:catAx>
        <c:axId val="210524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5249840"/>
        <c:crosses val="autoZero"/>
        <c:auto val="1"/>
        <c:lblAlgn val="ctr"/>
        <c:lblOffset val="100"/>
        <c:noMultiLvlLbl val="0"/>
      </c:catAx>
      <c:valAx>
        <c:axId val="21052498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1052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HEART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DISEASE BY EXERCISE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4'!$E$57:$E$59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'TASK 4'!$F$57:$F$59</c:f>
              <c:numCache>
                <c:formatCode>0.00%</c:formatCode>
                <c:ptCount val="3"/>
                <c:pt idx="0">
                  <c:v>0.20017793594306049</c:v>
                </c:pt>
                <c:pt idx="1">
                  <c:v>0.19718740446346683</c:v>
                </c:pt>
                <c:pt idx="2">
                  <c:v>0.20378151260504201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1F-4009-B7F5-932D1CE29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3616719"/>
        <c:axId val="453607567"/>
      </c:barChart>
      <c:catAx>
        <c:axId val="45361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07567"/>
        <c:crosses val="autoZero"/>
        <c:auto val="1"/>
        <c:lblAlgn val="ctr"/>
        <c:lblOffset val="100"/>
        <c:noMultiLvlLbl val="0"/>
      </c:catAx>
      <c:valAx>
        <c:axId val="45360756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5361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Health Data (Heart Disease)complete SKILL.xlsx project 8(3).xlsx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B42E3A-46F3-49FA-8589-76CC6023FD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C5750-5260-4E5A-9C3D-325E7248B100}"/>
              </a:ext>
            </a:extLst>
          </p:cNvPr>
          <p:cNvSpPr>
            <a:spLocks noGrp="1"/>
          </p:cNvSpPr>
          <p:nvPr/>
        </p:nvSpPr>
        <p:spPr>
          <a:xfrm>
            <a:off x="704850" y="11239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HEART DISEASE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EAE04-3CC1-4EAA-9DCF-B7FC3F5D8ED6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E63946"/>
                </a:solidFill>
              </a:defRPr>
            </a:pPr>
            <a:r>
              <a:rPr sz="4050" b="1">
                <a:solidFill>
                  <a:srgbClr val="E63946"/>
                </a:solidFill>
              </a:rPr>
              <a:t>DATA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49C77-D60E-4BB8-98B9-CED89011CFC8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962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Patterns, risk signals and practical priorities from 10,000 patient records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3B4DD-ABFE-4269-BCF5-22DE98AC83EE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3524250" cy="381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F96FC0-CD43-4D46-B0C6-91918897E6B9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D0D0D0"/>
                </a:solidFill>
              </a:defRPr>
            </a:pPr>
            <a:r>
              <a:rPr sz="1500" b="0">
                <a:solidFill>
                  <a:srgbClr val="D0D0D0"/>
                </a:solidFill>
              </a:rPr>
              <a:t>Prepared from the completed Excel analysis</a:t>
            </a:r>
          </a:p>
        </p:txBody>
      </p:sp>
    </p:spTree>
    <p:extLst>
      <p:ext uri="{BB962C8B-B14F-4D97-AF65-F5344CB8AC3E}">
        <p14:creationId xmlns:p14="http://schemas.microsoft.com/office/powerpoint/2010/main" val="154262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C521FC6-A66A-4048-B65E-6A1F012DC1D7}"/>
              </a:ext>
            </a:extLst>
          </p:cNvPr>
          <p:cNvSpPr>
            <a:spLocks noGrp="1"/>
          </p:cNvSpPr>
          <p:nvPr/>
        </p:nvSpPr>
        <p:spPr>
          <a:xfrm>
            <a:off x="0" y="-13855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402290-11CE-422C-907C-42AE06DDFB6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66A09-8AC4-4A2F-BAE7-881DF2B8E37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One in five patients has recorded heart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362A7-9D38-41D4-9D0B-8283A1125814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96DE0-AF7A-4E71-9E5A-038C023FCA4B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6AFE8-EAB3-4F7B-A361-5D4D592F245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3286125" cy="14954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FD07A-7FFD-40D0-9B71-33CF00110766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2828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C1121F"/>
                </a:solidFill>
              </a:defRPr>
            </a:pPr>
            <a:r>
              <a:rPr sz="3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CF3B9-65A3-44F4-AFC9-74172E31CA7A}"/>
              </a:ext>
            </a:extLst>
          </p:cNvPr>
          <p:cNvSpPr>
            <a:spLocks noGrp="1"/>
          </p:cNvSpPr>
          <p:nvPr/>
        </p:nvSpPr>
        <p:spPr>
          <a:xfrm>
            <a:off x="781050" y="2543175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TOTAL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000D1-3292-455D-817D-0BB8E97C3706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828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26B"/>
                </a:solidFill>
              </a:defRPr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Complete records included in the KPI base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62306F-7A1A-4E9C-9302-F5AFF6EAF421}"/>
              </a:ext>
            </a:extLst>
          </p:cNvPr>
          <p:cNvSpPr>
            <a:spLocks noGrp="1"/>
          </p:cNvSpPr>
          <p:nvPr/>
        </p:nvSpPr>
        <p:spPr>
          <a:xfrm>
            <a:off x="4457700" y="1695450"/>
            <a:ext cx="3286125" cy="15621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1BF7B-9A30-4905-B516-08041C0AD7FF}"/>
              </a:ext>
            </a:extLst>
          </p:cNvPr>
          <p:cNvSpPr>
            <a:spLocks noGrp="1"/>
          </p:cNvSpPr>
          <p:nvPr/>
        </p:nvSpPr>
        <p:spPr>
          <a:xfrm>
            <a:off x="4686300" y="1895475"/>
            <a:ext cx="2828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C1121F"/>
                </a:solidFill>
              </a:defRPr>
            </a:pPr>
            <a:r>
              <a:rPr sz="3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3296D-553A-4821-8ECC-9377AAD44A01}"/>
              </a:ext>
            </a:extLst>
          </p:cNvPr>
          <p:cNvSpPr>
            <a:spLocks noGrp="1"/>
          </p:cNvSpPr>
          <p:nvPr/>
        </p:nvSpPr>
        <p:spPr>
          <a:xfrm>
            <a:off x="4686300" y="2543175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WITH HEART DISEASE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E5BAC-B876-4E82-9FE0-CA9CC4D72C20}"/>
              </a:ext>
            </a:extLst>
          </p:cNvPr>
          <p:cNvSpPr>
            <a:spLocks noGrp="1"/>
          </p:cNvSpPr>
          <p:nvPr/>
        </p:nvSpPr>
        <p:spPr>
          <a:xfrm>
            <a:off x="4686300" y="2895600"/>
            <a:ext cx="2828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26B"/>
                </a:solidFill>
              </a:defRPr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20.0% of all patients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BBDBD1-007B-41FF-BCC4-59CC3963432A}"/>
              </a:ext>
            </a:extLst>
          </p:cNvPr>
          <p:cNvSpPr>
            <a:spLocks noGrp="1"/>
          </p:cNvSpPr>
          <p:nvPr/>
        </p:nvSpPr>
        <p:spPr>
          <a:xfrm>
            <a:off x="8362950" y="1695450"/>
            <a:ext cx="3267075" cy="18097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CB31A4-249D-4C3F-8625-1E4BC5D9DA04}"/>
              </a:ext>
            </a:extLst>
          </p:cNvPr>
          <p:cNvSpPr>
            <a:spLocks noGrp="1"/>
          </p:cNvSpPr>
          <p:nvPr/>
        </p:nvSpPr>
        <p:spPr>
          <a:xfrm>
            <a:off x="8591550" y="1895475"/>
            <a:ext cx="2828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C1121F"/>
                </a:solidFill>
              </a:defRPr>
            </a:pPr>
            <a:r>
              <a:rPr sz="3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2,216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9C2D4B-8FB7-49A3-A86C-B6FBE64FA4B7}"/>
              </a:ext>
            </a:extLst>
          </p:cNvPr>
          <p:cNvSpPr>
            <a:spLocks noGrp="1"/>
          </p:cNvSpPr>
          <p:nvPr/>
        </p:nvSpPr>
        <p:spPr>
          <a:xfrm>
            <a:off x="8591550" y="2543175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HIGH-RISK GROUP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74F6A-7B68-4945-9B27-01FB9F1A18A5}"/>
              </a:ext>
            </a:extLst>
          </p:cNvPr>
          <p:cNvSpPr>
            <a:spLocks noGrp="1"/>
          </p:cNvSpPr>
          <p:nvPr/>
        </p:nvSpPr>
        <p:spPr>
          <a:xfrm>
            <a:off x="8591550" y="2895600"/>
            <a:ext cx="2828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26B"/>
                </a:solidFill>
              </a:defRPr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22.16% based on the workbook risk score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AE9FF5F-178E-4413-8B82-528A4767345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7A7B4B-508F-468E-91EC-12F8F6A1DA41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BA9A29-9FE8-4201-B18A-0E377D34E63A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most important starting point is the 20% disease prevalence. The high-risk group is slightly larger than the diagnosed group, so screening capacity must cover both confirmed cases and people flagged for follow-up.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279F06F-C240-45BE-9E18-E170110EC6E9}"/>
              </a:ext>
            </a:extLst>
          </p:cNvPr>
          <p:cNvSpPr>
            <a:spLocks noGrp="1"/>
          </p:cNvSpPr>
          <p:nvPr/>
        </p:nvSpPr>
        <p:spPr>
          <a:xfrm>
            <a:off x="1171575" y="3600450"/>
            <a:ext cx="3286125" cy="14192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C218DAC-89F6-4463-835C-B0C109BB2BA3}"/>
              </a:ext>
            </a:extLst>
          </p:cNvPr>
          <p:cNvSpPr>
            <a:spLocks noGrp="1"/>
          </p:cNvSpPr>
          <p:nvPr/>
        </p:nvSpPr>
        <p:spPr>
          <a:xfrm>
            <a:off x="5872162" y="3762375"/>
            <a:ext cx="3286125" cy="14192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3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98B547-DEC2-4470-80F3-F4821907AB5E}"/>
              </a:ext>
            </a:extLst>
          </p:cNvPr>
          <p:cNvSpPr>
            <a:spLocks noGrp="1"/>
          </p:cNvSpPr>
          <p:nvPr/>
        </p:nvSpPr>
        <p:spPr>
          <a:xfrm>
            <a:off x="0" y="-2771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51DD1-9353-4101-A946-C67747C5C34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6DC26-4617-40A2-ACFE-02FC2BBDACA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analysis was cleaned before the comparisons were made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8C509-E14D-4103-97DA-178AEDBAF017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F1C5D-0087-457B-909C-D484EBA30F1E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DA217-8E29-4377-88BA-D5D24E019628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1121F"/>
                </a:solidFill>
              </a:defRPr>
            </a:pPr>
            <a:r>
              <a:rPr sz="1875" b="1">
                <a:solidFill>
                  <a:srgbClr val="C1121F"/>
                </a:solidFill>
              </a:rPr>
              <a:t>What was corrected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08B1B-59E2-4867-8C0C-01548FEC97D7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•  Checked 10,000 patient rows for completeness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4E434F-EBDA-49F7-837C-720E8A0E2C50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Standardised Yes/No and category 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B0EC7-B090-43F2-B063-4154199E46AB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Grouped cholesterol into desirable, borderline and high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CA89CD-77C4-4370-B294-FBEC5A05F678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Created a five-factor risk score and risk categories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60AB6F-C8DD-4B5E-A55A-94DC48EE41D3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1121F"/>
                </a:solidFill>
              </a:defRPr>
            </a:pPr>
            <a:r>
              <a:rPr sz="1875" b="1">
                <a:solidFill>
                  <a:srgbClr val="C1121F"/>
                </a:solidFill>
              </a:rPr>
              <a:t>How missing values were handled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D4035-6A0A-4544-85D3-6E493DCB966E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4857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Missingness was low—between 0.19% and 0.32% per field. Missing categories were excluded from rate comparisons instead of being treated as a real clinical group. No values were invented, and all percentage calculations used the available records for each variable.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5EFAE1-D879-4F0B-ABA1-3C45ECAEE53B}"/>
              </a:ext>
            </a:extLst>
          </p:cNvPr>
          <p:cNvSpPr>
            <a:spLocks noGrp="1"/>
          </p:cNvSpPr>
          <p:nvPr/>
        </p:nvSpPr>
        <p:spPr>
          <a:xfrm>
            <a:off x="6191250" y="4391025"/>
            <a:ext cx="4857750" cy="685800"/>
          </a:xfrm>
          <a:prstGeom prst="roundRect">
            <a:avLst>
              <a:gd name="adj" fmla="val 11111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22BA06-2B0A-4027-84E5-A5BB81473368}"/>
              </a:ext>
            </a:extLst>
          </p:cNvPr>
          <p:cNvSpPr>
            <a:spLocks noGrp="1"/>
          </p:cNvSpPr>
          <p:nvPr/>
        </p:nvSpPr>
        <p:spPr>
          <a:xfrm>
            <a:off x="6419850" y="4562475"/>
            <a:ext cx="440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Highest missing field: alcohol consumption — 32 records (0.32%)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915166-9280-4624-983D-8049DB08F5B2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C06870-CAC1-4C01-8EB5-7803019F96DE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3EA69C-C79A-4BE2-9D91-F1F935F4D5F0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This approach preserves the original data while preventing ‘N/A’ from appearing as if it were a genuine patient category. Because missingness is below 0.4% in every field, it is unlikely to change the broad comparisons materially.</a:t>
            </a:r>
          </a:p>
        </p:txBody>
      </p:sp>
    </p:spTree>
    <p:extLst>
      <p:ext uri="{BB962C8B-B14F-4D97-AF65-F5344CB8AC3E}">
        <p14:creationId xmlns:p14="http://schemas.microsoft.com/office/powerpoint/2010/main" val="96422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6C367A-471C-4E45-8C0F-297374553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23" y="874586"/>
            <a:ext cx="10823864" cy="53304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C7921A-B7D4-4CA3-BDF0-B409013941D3}"/>
              </a:ext>
            </a:extLst>
          </p:cNvPr>
          <p:cNvSpPr>
            <a:spLocks noGrp="1"/>
          </p:cNvSpPr>
          <p:nvPr/>
        </p:nvSpPr>
        <p:spPr>
          <a:xfrm>
            <a:off x="552450" y="100446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EXECUTIVE DASHBOARD</a:t>
            </a:r>
          </a:p>
        </p:txBody>
      </p:sp>
    </p:spTree>
    <p:extLst>
      <p:ext uri="{BB962C8B-B14F-4D97-AF65-F5344CB8AC3E}">
        <p14:creationId xmlns:p14="http://schemas.microsoft.com/office/powerpoint/2010/main" val="357980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8ECBE3-BD8F-4899-A163-2893D57069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E7C7A-93FF-4A00-BC57-2A8CD2711FC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 dirty="0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0817F3-27D4-4AFF-AB1E-2081E2FC031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Confirmed disease affects 2,000 patients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FC5D9-F9B3-4118-AD53-8DEED49AB7D7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B9029-2482-45CC-A525-1B3F4913D01F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34E97-5EAD-4BDD-909C-285BA1A148FC}"/>
              </a:ext>
            </a:extLst>
          </p:cNvPr>
          <p:cNvSpPr>
            <a:spLocks noGrp="1"/>
          </p:cNvSpPr>
          <p:nvPr/>
        </p:nvSpPr>
        <p:spPr>
          <a:xfrm>
            <a:off x="6715125" y="2047875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C1121F"/>
                </a:solidFill>
              </a:defRPr>
            </a:pPr>
            <a:r>
              <a:rPr sz="4200" b="1">
                <a:solidFill>
                  <a:srgbClr val="C1121F"/>
                </a:solidFill>
              </a:rPr>
              <a:t>20%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7ACE8-DEF9-4E23-97B8-179AAB96A9DC}"/>
              </a:ext>
            </a:extLst>
          </p:cNvPr>
          <p:cNvSpPr>
            <a:spLocks noGrp="1"/>
          </p:cNvSpPr>
          <p:nvPr/>
        </p:nvSpPr>
        <p:spPr>
          <a:xfrm>
            <a:off x="6715125" y="2809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of the patient population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F8C4C6-261F-4ECB-83F8-BE5844E8354B}"/>
              </a:ext>
            </a:extLst>
          </p:cNvPr>
          <p:cNvSpPr>
            <a:spLocks noGrp="1"/>
          </p:cNvSpPr>
          <p:nvPr/>
        </p:nvSpPr>
        <p:spPr>
          <a:xfrm>
            <a:off x="6715125" y="3381375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D626B"/>
                </a:solidFill>
              </a:defRPr>
            </a:pPr>
            <a:r>
              <a:rPr sz="1800" b="0">
                <a:solidFill>
                  <a:srgbClr val="5D626B"/>
                </a:solidFill>
              </a:rPr>
              <a:t>That is 1 affected patient for every 4 without a recorded diagnosis.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3F5B04-5226-467A-87A5-CDF8EE28E20C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DDEE2-7B5E-4D08-B44B-9E46BBBEB722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4AF6D6-B939-4D99-9554-87A946BD7963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 20% disease rate is large enough to justify structured screening and follow-up. The 8,000 patients without recorded disease still need prevention messaging, particularly when they carry multiple risk flags.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8B66C59-741B-4857-B899-9CBD99D330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325861"/>
              </p:ext>
            </p:extLst>
          </p:nvPr>
        </p:nvGraphicFramePr>
        <p:xfrm>
          <a:off x="628650" y="2157413"/>
          <a:ext cx="6194181" cy="300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0271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AB95FA-6C9A-4808-BE39-E74D0DBD7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385DC-5A81-4135-AC5B-AC18BFCD582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D88BC0-3BA8-49C8-927E-2DEF0026EC6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risk score flags more patients than the diagnosis count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63623-EC21-42F7-B52C-340463D92FA1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2BA07-1500-47D2-9488-43AA089A3A64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30515E-2D18-4360-90B9-40D6422B1427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9FDA6-3F51-4E3F-8E66-C2951B7A22C9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E0F254-031E-4680-868A-0F1FD0EB5E23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High-risk patients account for 22.16%, but their observed disease rate is 20.17%—almost the same as the full dataset. This weak separation means the current score should be validated or recalibrated before it is used for clinical decisions.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998EE1B-3F40-4086-B199-2E2281AABE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8237615"/>
              </p:ext>
            </p:extLst>
          </p:nvPr>
        </p:nvGraphicFramePr>
        <p:xfrm>
          <a:off x="1731818" y="1634837"/>
          <a:ext cx="8769927" cy="3584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938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BD3E55-CBFC-4968-BAF3-EF9DBF0D85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FB0A90-5B49-4E3C-A195-6B9B32F03C3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4ECF7A-E297-44A2-B151-D8DD94918C5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Women show a slightly higher recorded disease 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ADB815-DBEC-496A-A562-50C9B4977352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4C9F7E-EF9E-49F0-BC69-7A4CC52BBEF0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34EA48-A162-44B0-97D4-3D33D23F7143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8A852-BBA0-40A8-8F61-385978268FED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C3B441-5DAC-4131-9F16-9882179233C0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Female patients record a 20.69% rate compared with 19.</a:t>
            </a:r>
            <a:r>
              <a:rPr lang="en-US" sz="1650" b="0" dirty="0">
                <a:solidFill>
                  <a:srgbClr val="111111"/>
                </a:solidFill>
              </a:rPr>
              <a:t>37</a:t>
            </a:r>
            <a:r>
              <a:rPr sz="1650" b="0" dirty="0">
                <a:solidFill>
                  <a:srgbClr val="111111"/>
                </a:solidFill>
              </a:rPr>
              <a:t>% for male patients—a 1.</a:t>
            </a:r>
            <a:r>
              <a:rPr lang="en-US" sz="1650" b="0" dirty="0">
                <a:solidFill>
                  <a:srgbClr val="111111"/>
                </a:solidFill>
              </a:rPr>
              <a:t>32</a:t>
            </a:r>
            <a:r>
              <a:rPr sz="1650" b="0" dirty="0">
                <a:solidFill>
                  <a:srgbClr val="111111"/>
                </a:solidFill>
              </a:rPr>
              <a:t> percentage-point difference. The gap is modest and should guide further investigation, not a conclusion that gender alone explains the outcome.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14C3ECD-6DA4-448E-9B14-EE57B91D4A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2641723"/>
              </p:ext>
            </p:extLst>
          </p:nvPr>
        </p:nvGraphicFramePr>
        <p:xfrm>
          <a:off x="800100" y="1343025"/>
          <a:ext cx="9652195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1072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B53927-3BF6-4E19-9AAC-38593AC8C1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99061-7939-41BC-B799-EBC1871779F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A74AD-74F0-40A9-A923-48461939D3F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Age groups are almost indistinguishable in this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82214-7B20-4AD6-9014-EDDAF0929EE4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0D5804-DFF0-4310-A5E0-7183066A4CB1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20F484-1ACD-4064-8EEF-1FE3B1EB4FD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D02F3-D095-4C83-BEEB-C379E93B8FBA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9CF59-CDEC-4C09-8DCF-7CD1D564456F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Rates range from 19.5</a:t>
            </a:r>
            <a:r>
              <a:rPr lang="en-US" sz="1650" b="0" dirty="0">
                <a:solidFill>
                  <a:srgbClr val="111111"/>
                </a:solidFill>
              </a:rPr>
              <a:t>2</a:t>
            </a:r>
            <a:r>
              <a:rPr sz="1650" b="0" dirty="0">
                <a:solidFill>
                  <a:srgbClr val="111111"/>
                </a:solidFill>
              </a:rPr>
              <a:t>% to 20.43%, with younger groups marginally higher. Because the pattern does not rise with age, this dataset should not be used to infer a normal age–disease relationship without checking how the data was generated or sampled.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F812916-D4B1-4353-A1F2-370699777F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852198"/>
              </p:ext>
            </p:extLst>
          </p:nvPr>
        </p:nvGraphicFramePr>
        <p:xfrm>
          <a:off x="628649" y="1565031"/>
          <a:ext cx="10467975" cy="3407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5641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A301B2-D312-4207-92EE-92A1CD1A3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35CB0B-8515-40DA-909C-0C74C1EBCFC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EE4E37-85FC-4480-AA38-66FDD9565F6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Disease rate rises gradually across the main BMI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1214C-FADB-4821-A0B2-5F991705A76D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0635C-A742-4464-9EFD-C94249AB9FD3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09</a:t>
            </a: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1606047038"/>
              </p:ext>
            </p:extLst>
          </p:nvPr>
        </p:nvGraphicFramePr>
        <p:xfrm>
          <a:off x="952500" y="1524000"/>
          <a:ext cx="100965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685228-D2EE-45A7-9212-A5D0B3F5BBFE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3D4D45-CF8D-4E62-BF65-97DCB317CC90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65601-CDA8-432D-A4AC-34029AA203D0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The rate increases from 18.</a:t>
            </a:r>
            <a:r>
              <a:rPr lang="en-US" sz="1650" b="0" dirty="0">
                <a:solidFill>
                  <a:srgbClr val="111111"/>
                </a:solidFill>
              </a:rPr>
              <a:t>74</a:t>
            </a:r>
            <a:r>
              <a:rPr sz="1650" b="0" dirty="0">
                <a:solidFill>
                  <a:srgbClr val="111111"/>
                </a:solidFill>
              </a:rPr>
              <a:t>% in the healthy-BMI group to 20.8</a:t>
            </a:r>
            <a:r>
              <a:rPr lang="en-US" sz="1650" b="0" dirty="0">
                <a:solidFill>
                  <a:srgbClr val="111111"/>
                </a:solidFill>
              </a:rPr>
              <a:t>0</a:t>
            </a:r>
            <a:r>
              <a:rPr sz="1650" b="0" dirty="0">
                <a:solidFill>
                  <a:srgbClr val="111111"/>
                </a:solidFill>
              </a:rPr>
              <a:t>% among patients classified as obese, a 2.</a:t>
            </a:r>
            <a:r>
              <a:rPr lang="en-US" sz="1650" b="0" dirty="0">
                <a:solidFill>
                  <a:srgbClr val="111111"/>
                </a:solidFill>
              </a:rPr>
              <a:t>06</a:t>
            </a:r>
            <a:r>
              <a:rPr sz="1650" b="0" dirty="0">
                <a:solidFill>
                  <a:srgbClr val="111111"/>
                </a:solidFill>
              </a:rPr>
              <a:t>-point difference. This is one of the clearer gradients in the workbook and supports weight-management follow-up, while still avoiding causal claims.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72A9BEC-9C1E-4F78-A01C-D3D8E8D287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28038"/>
              </p:ext>
            </p:extLst>
          </p:nvPr>
        </p:nvGraphicFramePr>
        <p:xfrm>
          <a:off x="800100" y="1171575"/>
          <a:ext cx="9466118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2401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A66313-D13B-4110-9CE3-0BCBC0DF25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7DF6B-00CE-44C8-BA4E-E3A2470E0D1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1C8D2-F419-4C65-BF9F-A9B45DCA8A4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Medium stress records the highest disease 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DC0367-B62F-4B28-A8DA-25E209C69A4F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543CF-83C9-4431-B2D7-734734499028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6C6A8D-4ADC-4A83-9FD3-2A7E8FAEE4A9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01A75-6896-4B38-AFA6-503EFF9EDD9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10EE5-E9FC-4C7A-9F6F-263CD6AC6B89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Medium stress reaches 21.4</a:t>
            </a:r>
            <a:r>
              <a:rPr lang="en-US" sz="1650" b="0" dirty="0">
                <a:solidFill>
                  <a:srgbClr val="111111"/>
                </a:solidFill>
              </a:rPr>
              <a:t>3</a:t>
            </a:r>
            <a:r>
              <a:rPr sz="1650" b="0" dirty="0">
                <a:solidFill>
                  <a:srgbClr val="111111"/>
                </a:solidFill>
              </a:rPr>
              <a:t>%, compared with 18.7</a:t>
            </a:r>
            <a:r>
              <a:rPr lang="en-US" sz="1650" b="0" dirty="0">
                <a:solidFill>
                  <a:srgbClr val="111111"/>
                </a:solidFill>
              </a:rPr>
              <a:t>3</a:t>
            </a:r>
            <a:r>
              <a:rPr sz="1650" b="0" dirty="0">
                <a:solidFill>
                  <a:srgbClr val="111111"/>
                </a:solidFill>
              </a:rPr>
              <a:t>% for low stress. However, the high-stress group does not continue the upward pattern, so stress may be interacting with other variables or the category definitions may need review.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78F6792-A486-44C1-AA93-291F6AA065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65784"/>
              </p:ext>
            </p:extLst>
          </p:nvPr>
        </p:nvGraphicFramePr>
        <p:xfrm>
          <a:off x="800100" y="1333501"/>
          <a:ext cx="10034155" cy="3676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9423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35DA98-204B-4164-837E-BEA31E4726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792D42-EDDC-4280-8EFB-C6DF6B2D2E6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40CB9-48E7-4CA8-9EE4-8FD78F3E02F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Higher alcohol consumption is associated with a higher 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AC9F19-F318-4EDB-9868-D13BD15A1DC0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B2424-2853-4B5D-9BEE-BBA401A39771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21AC8A-346C-4782-B349-8811306C1D5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DBDB04-B316-41EC-90BC-74B43D4B6B24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ED1718-7CB0-4653-A3C0-7F28EE64448A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Patients reporting high alcohol consumption have a 21.00% disease rate versus 19.26% among non-drinkers. The 1.74-point gap is meaningful for prevention messaging, but adjustment for age, sex, BMI and smoking is needed before attributing the difference to alcohol alone.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28436A2-2597-427F-A6DD-D0CA014B47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7629613"/>
              </p:ext>
            </p:extLst>
          </p:nvPr>
        </p:nvGraphicFramePr>
        <p:xfrm>
          <a:off x="942109" y="1257299"/>
          <a:ext cx="9490364" cy="3609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140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99953-D348-4E39-A9A4-ABD0744A93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930EDB-F2BF-4DE4-9074-1CB0B4645A9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01C31-4265-40D6-B43C-00966A10C60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High sugar consumption shows a modest increase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21F095-CD5B-45FF-A6BA-74687D70D518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2CF5D-5F4C-47D9-BF7C-A4DF5EB7963F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8EA8C1-120D-4B08-BC64-E9310C3C46D5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86D65-E4C3-4890-AB2A-0DBFAB65F6B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9564B-B64C-4AE1-891D-7A4984D083AC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The high-sugar group records 20.6</a:t>
            </a:r>
            <a:r>
              <a:rPr lang="en-US" sz="1650" b="0" dirty="0">
                <a:solidFill>
                  <a:srgbClr val="111111"/>
                </a:solidFill>
              </a:rPr>
              <a:t>0</a:t>
            </a:r>
            <a:r>
              <a:rPr sz="1650" b="0" dirty="0">
                <a:solidFill>
                  <a:srgbClr val="111111"/>
                </a:solidFill>
              </a:rPr>
              <a:t>%, around one percentage point above medium consumption. This supports targeted dietary education, although the narrow spread means sugar level is not a strong standalone discriminator in this dataset.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DEF5B1F3-599A-479D-B8BB-AD4323F780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471251"/>
              </p:ext>
            </p:extLst>
          </p:nvPr>
        </p:nvGraphicFramePr>
        <p:xfrm>
          <a:off x="800099" y="1295400"/>
          <a:ext cx="9382991" cy="3525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605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FC834F-EC92-4DDE-9C69-8EB38B4B2B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C51738-8340-47A8-9D5B-ED5022F208D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9E257-82E7-465C-AC7E-44BB9BC732D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Cholesterol groups show almost no separation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D67EF2-1D99-4B7A-A525-4D1E1CD38453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45678-468C-459B-9966-25F8391C54BA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C8015A-6FA0-4C7E-86A0-96267FC62B41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14E4C-CEC3-4A38-817A-E04F4A7F04E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9B8A3-1C13-4146-BDA5-6C3E92124BD1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All three cholesterol groups sit within 0.45 percentage points. Cholesterol remains clinically important, but this workbook’s outcome is too evenly distributed for cholesterol category alone to identify affected patients reliably.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23F306F-AF9A-4605-9D2C-114611EB3F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1421260"/>
              </p:ext>
            </p:extLst>
          </p:nvPr>
        </p:nvGraphicFramePr>
        <p:xfrm>
          <a:off x="1011382" y="1362076"/>
          <a:ext cx="9157854" cy="364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55145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13AA1C-DA09-43A6-9E7A-1ADECAA301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9DD4B9-E687-4F80-A939-FB92F586981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HEART DISEASE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B11DF-AFC5-407D-9DD2-F0D8E2DDB3A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Exercise levels do not materially separate patient outcomes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A43CA9-31CD-420B-B696-AE3238C2A962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134EA-8EA4-49C4-A624-D6D421B8269F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F0C7DF-34B6-42B3-8614-B8142F7825B3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4DBBC-4BA0-4FA6-8AC7-6224B96092CC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B51D2-6D86-404D-BDFF-F6B8B4569538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The difference between low and medium exercise is only 0.</a:t>
            </a:r>
            <a:r>
              <a:rPr lang="en-US" sz="1650" b="0" dirty="0">
                <a:solidFill>
                  <a:srgbClr val="111111"/>
                </a:solidFill>
              </a:rPr>
              <a:t>66</a:t>
            </a:r>
            <a:r>
              <a:rPr sz="1650" b="0" dirty="0">
                <a:solidFill>
                  <a:srgbClr val="111111"/>
                </a:solidFill>
              </a:rPr>
              <a:t> percentage points. The result should be treated as a signal that activity categories may be too broad—or that other factors must be considered together—rather than evidence that exercise has little clinical value.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5E07ED2-F01D-42A6-84FC-E6A35D245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8470677"/>
              </p:ext>
            </p:extLst>
          </p:nvPr>
        </p:nvGraphicFramePr>
        <p:xfrm>
          <a:off x="800099" y="1562100"/>
          <a:ext cx="9951027" cy="3600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74289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6F77AA8-6449-4EDF-92FE-DC721DAF9C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2815FA-5981-4A9A-8425-FD9DC4B1D1F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WHAT THE ANALYSIS SHOWS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7F6C0-17B4-4CD4-8608-2286CB1950A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Seven findings define the story in the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AFD81-A00C-45BE-B672-1B52C7EBA382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55D71-48B4-4ED2-BAEC-83F0F7633AED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411D33-9512-4645-A340-2D676171E735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2F3"/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1C821-D9E8-497B-91CB-48512F37D88B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1. Heart disease is recorded for 20% of patients.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36EA9A-0302-4F4A-8C96-B740D65A003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02878-75A8-4E7B-B96A-DEA181E5BEB0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 High risk covers 22.16%, but the score barely separates outcomes.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6182B7-A148-489A-A477-63FFF4625178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A5221E-15A9-4B64-853D-CC6716456EE6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3. Women have a 1.28-point higher rate than men.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0F1A32-851A-41A7-ACBF-CFA26F0A8789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A61DD-3B01-417B-BC81-A7916A103865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4. BMI shows the clearest gradual increase among major groups.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31F032-6AD1-4FC5-BBEF-1C8326A1A700}"/>
              </a:ext>
            </a:extLst>
          </p:cNvPr>
          <p:cNvSpPr>
            <a:spLocks noGrp="1"/>
          </p:cNvSpPr>
          <p:nvPr/>
        </p:nvSpPr>
        <p:spPr>
          <a:xfrm>
            <a:off x="6238875" y="15049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22F55-B7D8-4222-9608-8DA41628F9C0}"/>
              </a:ext>
            </a:extLst>
          </p:cNvPr>
          <p:cNvSpPr>
            <a:spLocks noGrp="1"/>
          </p:cNvSpPr>
          <p:nvPr/>
        </p:nvSpPr>
        <p:spPr>
          <a:xfrm>
            <a:off x="6410325" y="16383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5. High alcohol and high sugar groups sit modestly above baseline.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C41582-714F-4E2B-98A8-26C0EE365549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C8D07-4BDB-4837-BE21-66D777C6E421}"/>
              </a:ext>
            </a:extLst>
          </p:cNvPr>
          <p:cNvSpPr>
            <a:spLocks noGrp="1"/>
          </p:cNvSpPr>
          <p:nvPr/>
        </p:nvSpPr>
        <p:spPr>
          <a:xfrm>
            <a:off x="6410325" y="25146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6. Age, exercise and cholesterol groups remain unusually flat.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8787C6-E554-44F3-AB7A-5FADD1B700C5}"/>
              </a:ext>
            </a:extLst>
          </p:cNvPr>
          <p:cNvSpPr>
            <a:spLocks noGrp="1"/>
          </p:cNvSpPr>
          <p:nvPr/>
        </p:nvSpPr>
        <p:spPr>
          <a:xfrm>
            <a:off x="6238875" y="32575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D928F1-5288-4189-B2FC-C5C377CA067B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7. Most differences are associative and require statistical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185533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C58D944-DF5F-468F-9977-3C99D0E11C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F3642C-D93F-4C61-9692-302091E20CB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PRIORITIES FOR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5EDD24-206C-452E-B823-432437AF83E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Act first on screening quality and modifiable risks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557C1-9124-44CB-A314-23DB368E6BD2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0096B-E941-4B05-BE73-C43108FF80D4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D9422-848E-462E-B473-AE3C8EE490C3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4EB08-71E4-4652-8CB6-A07D69A358AC}"/>
              </a:ext>
            </a:extLst>
          </p:cNvPr>
          <p:cNvSpPr>
            <a:spLocks noGrp="1"/>
          </p:cNvSpPr>
          <p:nvPr/>
        </p:nvSpPr>
        <p:spPr>
          <a:xfrm>
            <a:off x="1333500" y="14763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Validate the risk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2079C-C649-40CD-92CC-6A589531A40C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Test sensitivity, specificity and calibration before using the high-risk label for decisions.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5EA117-70D3-4A73-9A5F-415541DD1360}"/>
              </a:ext>
            </a:extLst>
          </p:cNvPr>
          <p:cNvSpPr>
            <a:spLocks noGrp="1"/>
          </p:cNvSpPr>
          <p:nvPr/>
        </p:nvSpPr>
        <p:spPr>
          <a:xfrm>
            <a:off x="704850" y="2200275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5AF34-0916-4314-957F-845654FF9DF4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A4E73-5D22-4AEC-8B85-3BB383A51616}"/>
              </a:ext>
            </a:extLst>
          </p:cNvPr>
          <p:cNvSpPr>
            <a:spLocks noGrp="1"/>
          </p:cNvSpPr>
          <p:nvPr/>
        </p:nvSpPr>
        <p:spPr>
          <a:xfrm>
            <a:off x="1333500" y="24098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Prioritise high-risk follow-up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04522F-1D12-45CA-8AC0-39B5ECCDF5A8}"/>
              </a:ext>
            </a:extLst>
          </p:cNvPr>
          <p:cNvSpPr>
            <a:spLocks noGrp="1"/>
          </p:cNvSpPr>
          <p:nvPr/>
        </p:nvSpPr>
        <p:spPr>
          <a:xfrm>
            <a:off x="4667250" y="240982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Review the 2,216 flagged patients with confirmed clinical measures and repeat assessment.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075A43-31F3-45D5-963B-14F92721BEF0}"/>
              </a:ext>
            </a:extLst>
          </p:cNvPr>
          <p:cNvSpPr>
            <a:spLocks noGrp="1"/>
          </p:cNvSpPr>
          <p:nvPr/>
        </p:nvSpPr>
        <p:spPr>
          <a:xfrm>
            <a:off x="704850" y="3133725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8BD3D6-B806-4AD6-988F-ED06BE6CF184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90ADE0-C139-444E-A9E9-00D29CCC9CED}"/>
              </a:ext>
            </a:extLst>
          </p:cNvPr>
          <p:cNvSpPr>
            <a:spLocks noGrp="1"/>
          </p:cNvSpPr>
          <p:nvPr/>
        </p:nvSpPr>
        <p:spPr>
          <a:xfrm>
            <a:off x="1333500" y="33432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Strengthen weight support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0F9C8-B493-4743-AFA2-31177097A209}"/>
              </a:ext>
            </a:extLst>
          </p:cNvPr>
          <p:cNvSpPr>
            <a:spLocks noGrp="1"/>
          </p:cNvSpPr>
          <p:nvPr/>
        </p:nvSpPr>
        <p:spPr>
          <a:xfrm>
            <a:off x="4667250" y="334327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Offer BMI-based nutrition, activity and referral pathways, especially for obese patients.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9C355A-295B-4325-B943-DB552CFDA86C}"/>
              </a:ext>
            </a:extLst>
          </p:cNvPr>
          <p:cNvSpPr>
            <a:spLocks noGrp="1"/>
          </p:cNvSpPr>
          <p:nvPr/>
        </p:nvSpPr>
        <p:spPr>
          <a:xfrm>
            <a:off x="704850" y="4067175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3D3363-9C23-426F-BDC3-98E8A909A7CF}"/>
              </a:ext>
            </a:extLst>
          </p:cNvPr>
          <p:cNvSpPr>
            <a:spLocks noGrp="1"/>
          </p:cNvSpPr>
          <p:nvPr/>
        </p:nvSpPr>
        <p:spPr>
          <a:xfrm>
            <a:off x="704850" y="42767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07196B-4E81-4C51-9B74-E0538F6B1475}"/>
              </a:ext>
            </a:extLst>
          </p:cNvPr>
          <p:cNvSpPr>
            <a:spLocks noGrp="1"/>
          </p:cNvSpPr>
          <p:nvPr/>
        </p:nvSpPr>
        <p:spPr>
          <a:xfrm>
            <a:off x="1333500" y="42767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Target alcohol and sugar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3356F5-E87D-4358-89B3-DBF5EF4A813F}"/>
              </a:ext>
            </a:extLst>
          </p:cNvPr>
          <p:cNvSpPr>
            <a:spLocks noGrp="1"/>
          </p:cNvSpPr>
          <p:nvPr/>
        </p:nvSpPr>
        <p:spPr>
          <a:xfrm>
            <a:off x="4667250" y="427672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Use brief interventions and practical education for the groups sitting above baseline.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15DF57-DA61-47BD-B3AC-B51F4CCC7F1B}"/>
              </a:ext>
            </a:extLst>
          </p:cNvPr>
          <p:cNvSpPr>
            <a:spLocks noGrp="1"/>
          </p:cNvSpPr>
          <p:nvPr/>
        </p:nvSpPr>
        <p:spPr>
          <a:xfrm>
            <a:off x="704850" y="5000625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6CA1B5-A291-4D38-B22F-6699E0D699A9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2F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2244C5-1C81-41CD-B15E-999EEE399454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46CB4E-9701-48BE-8A24-EA5E7341BFE4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These actions focus on the clearest operational priorities while recognising that the observed differences are small. Screening decisions should combine multiple factors rather than relying on any single category.</a:t>
            </a:r>
          </a:p>
        </p:txBody>
      </p:sp>
    </p:spTree>
    <p:extLst>
      <p:ext uri="{BB962C8B-B14F-4D97-AF65-F5344CB8AC3E}">
        <p14:creationId xmlns:p14="http://schemas.microsoft.com/office/powerpoint/2010/main" val="1587125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C7D798F-D28F-47E4-800A-AB65999D9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5EB68D-7D64-4C83-AA52-052D26D45B5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1121F"/>
                </a:solidFill>
              </a:defRPr>
            </a:pPr>
            <a:r>
              <a:rPr sz="1050" b="1">
                <a:solidFill>
                  <a:srgbClr val="C1121F"/>
                </a:solidFill>
              </a:rPr>
              <a:t>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445D3-16DA-46E7-8503-90B21238F7F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715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Improve the data before making stronger clinical claims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35239-1709-46FC-A02F-25BA6592F478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C1121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D7029F-0723-4BBD-B175-ED0B4892AF05}"/>
              </a:ext>
            </a:extLst>
          </p:cNvPr>
          <p:cNvSpPr>
            <a:spLocks noGrp="1"/>
          </p:cNvSpPr>
          <p:nvPr/>
        </p:nvSpPr>
        <p:spPr>
          <a:xfrm>
            <a:off x="11096625" y="6324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D626B"/>
                </a:solidFill>
              </a:defRPr>
            </a:pPr>
            <a:r>
              <a:rPr sz="1050" b="1">
                <a:solidFill>
                  <a:srgbClr val="5D626B"/>
                </a:solidFill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69B4C-D118-4330-B720-961921942560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0936D-9499-47E5-9861-2243EDB64B13}"/>
              </a:ext>
            </a:extLst>
          </p:cNvPr>
          <p:cNvSpPr>
            <a:spLocks noGrp="1"/>
          </p:cNvSpPr>
          <p:nvPr/>
        </p:nvSpPr>
        <p:spPr>
          <a:xfrm>
            <a:off x="1333500" y="1428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Standardise data capture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3F4F27-6CD1-4E34-9783-9DF3C4949DEC}"/>
              </a:ext>
            </a:extLst>
          </p:cNvPr>
          <p:cNvSpPr>
            <a:spLocks noGrp="1"/>
          </p:cNvSpPr>
          <p:nvPr/>
        </p:nvSpPr>
        <p:spPr>
          <a:xfrm>
            <a:off x="4667250" y="14287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Replace free-text or missing categories with controlled options and mandatory validation rules.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67376-3881-4628-B1E2-46662A6D42C2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0E31B1-6CF9-44D7-A04E-0539B48BDC7C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20FB3-9B5A-458F-917E-FB8302F8DD6B}"/>
              </a:ext>
            </a:extLst>
          </p:cNvPr>
          <p:cNvSpPr>
            <a:spLocks noGrp="1"/>
          </p:cNvSpPr>
          <p:nvPr/>
        </p:nvSpPr>
        <p:spPr>
          <a:xfrm>
            <a:off x="1333500" y="23050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Add clinically relevant 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FE096-BEEC-4ED0-AD8B-1C3DF3354865}"/>
              </a:ext>
            </a:extLst>
          </p:cNvPr>
          <p:cNvSpPr>
            <a:spLocks noGrp="1"/>
          </p:cNvSpPr>
          <p:nvPr/>
        </p:nvSpPr>
        <p:spPr>
          <a:xfrm>
            <a:off x="4667250" y="23050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Include medication, diagnosis date, severity, treatment and follow-up outcomes.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3C68B-405E-46F2-A043-7583923952D5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3501-E59A-4332-BCE8-1D052D38E6B2}"/>
              </a:ext>
            </a:extLst>
          </p:cNvPr>
          <p:cNvSpPr>
            <a:spLocks noGrp="1"/>
          </p:cNvSpPr>
          <p:nvPr/>
        </p:nvSpPr>
        <p:spPr>
          <a:xfrm>
            <a:off x="704850" y="31813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99AFE-E789-4619-A382-9C23E42EECBA}"/>
              </a:ext>
            </a:extLst>
          </p:cNvPr>
          <p:cNvSpPr>
            <a:spLocks noGrp="1"/>
          </p:cNvSpPr>
          <p:nvPr/>
        </p:nvSpPr>
        <p:spPr>
          <a:xfrm>
            <a:off x="1333500" y="31813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Run multivariable modelling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B942E5-BBCE-4546-A1A1-1B32423E20CF}"/>
              </a:ext>
            </a:extLst>
          </p:cNvPr>
          <p:cNvSpPr>
            <a:spLocks noGrp="1"/>
          </p:cNvSpPr>
          <p:nvPr/>
        </p:nvSpPr>
        <p:spPr>
          <a:xfrm>
            <a:off x="4667250" y="31813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Estimate adjusted effects and confidence intervals instead of relying only on simple percentages.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645B6-0D68-4C21-AB04-E63E9D389687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97BBF7-E779-4B74-BDEE-73910E56CCE8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1121F"/>
                </a:solidFill>
              </a:defRPr>
            </a:pPr>
            <a:r>
              <a:rPr sz="1800" b="1">
                <a:solidFill>
                  <a:srgbClr val="C1121F"/>
                </a:solidFill>
              </a:rPr>
              <a:t>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C82DCC-9242-40F1-88AE-79BCEF86B69D}"/>
              </a:ext>
            </a:extLst>
          </p:cNvPr>
          <p:cNvSpPr>
            <a:spLocks noGrp="1"/>
          </p:cNvSpPr>
          <p:nvPr/>
        </p:nvSpPr>
        <p:spPr>
          <a:xfrm>
            <a:off x="1333500" y="4057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Monitor outcomes over time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114C0B-2C04-48BC-82E8-F8F44BF0A4AC}"/>
              </a:ext>
            </a:extLst>
          </p:cNvPr>
          <p:cNvSpPr>
            <a:spLocks noGrp="1"/>
          </p:cNvSpPr>
          <p:nvPr/>
        </p:nvSpPr>
        <p:spPr>
          <a:xfrm>
            <a:off x="4667250" y="40576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26B"/>
                </a:solidFill>
              </a:defRPr>
            </a:pPr>
            <a:r>
              <a:rPr sz="1500" b="0">
                <a:solidFill>
                  <a:srgbClr val="5D626B"/>
                </a:solidFill>
              </a:rPr>
              <a:t>Track whether risk scores and interventions predict later diagnoses, admissions or improvement.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E31E8-F49E-45AC-983F-D787DFCC2106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10477500" cy="9525"/>
          </a:xfrm>
          <a:prstGeom prst="rect">
            <a:avLst/>
          </a:prstGeom>
          <a:solidFill>
            <a:srgbClr val="E7E7E7"/>
          </a:solidFill>
          <a:ln w="0">
            <a:noFill/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A60A23-3D7D-4E93-8F8B-F1DA79FC6203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477500" cy="66675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133897-4BBB-4A39-8152-64B3E3B54418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998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Bottom line: use this analysis to prioritise review—not to claim causation.</a:t>
            </a:r>
          </a:p>
        </p:txBody>
      </p:sp>
    </p:spTree>
    <p:extLst>
      <p:ext uri="{BB962C8B-B14F-4D97-AF65-F5344CB8AC3E}">
        <p14:creationId xmlns:p14="http://schemas.microsoft.com/office/powerpoint/2010/main" val="15522448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1539</Words>
  <Application>Microsoft Office PowerPoint</Application>
  <DocSecurity>0</DocSecurity>
  <PresentationFormat>Widescreen</PresentationFormat>
  <Paragraphs>170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14</cp:revision>
  <dcterms:created xsi:type="dcterms:W3CDTF">2026-08-28T12:25:35Z</dcterms:created>
  <dcterms:modified xsi:type="dcterms:W3CDTF">2026-09-01T17:24:58Z</dcterms:modified>
</cp:coreProperties>
</file>